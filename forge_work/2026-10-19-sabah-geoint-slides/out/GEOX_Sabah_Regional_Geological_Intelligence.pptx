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2D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000" b="1" i="0">
                <a:solidFill>
                  <a:srgbClr val="E8E6E3"/>
                </a:solidFill>
                <a:latin typeface="Calibri"/>
              </a:rPr>
              <a:t>GEOX SABAH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3000" b="1" i="0">
                <a:solidFill>
                  <a:srgbClr val="FFD54F"/>
                </a:solidFill>
                <a:latin typeface="Calibri"/>
              </a:rPr>
              <a:t>GEOLOGICAL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E8E6E3"/>
                </a:solidFill>
                <a:latin typeface="Calibri"/>
              </a:rPr>
              <a:t>East Sabah → Dangerous Grounds  ·  Regional Earth system / Basin domain / Local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8716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"/>
              </a:rPr>
              <a:t>AI_IMAGE_GENERATION: NOT AVAILABLE · EXTERNAL_IMAGE_GENERATION: BLOCKED_C28 · AI-READY CONCEPTUAL VISUAL LAYER · CURRENT IMPLEMENTATION: GOVERNED PROCEDURAL RENDER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01568"/>
            <a:ext cx="11094415" cy="868680"/>
          </a:xfrm>
          <a:prstGeom prst="rect">
            <a:avLst/>
          </a:prstGeom>
          <a:solidFill>
            <a:srgbClr val="12141A"/>
          </a:solidFill>
          <a:ln w="1778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93008"/>
            <a:ext cx="10728655" cy="73152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500" b="1" i="0">
                <a:solidFill>
                  <a:srgbClr val="FFD54F"/>
                </a:solidFill>
                <a:latin typeface="Calibri"/>
              </a:rPr>
              <a:t>Build correctness is not Earth truth. GEOX renders; ARIF adjudicates.</a:t>
            </a:r>
          </a:p>
          <a:p>
            <a:pPr algn="ctr"/>
            <a:r>
              <a:rPr sz="1500" b="1" i="0">
                <a:solidFill>
                  <a:srgbClr val="FFD54F"/>
                </a:solidFill>
                <a:latin typeface="Calibri"/>
              </a:rPr>
              <a:t>No model is canonical, preferred or closed. P, L and R are drawn with equal weight.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94415" cy="1554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0" i="0">
                <a:solidFill>
                  <a:srgbClr val="E8E6E3"/>
                </a:solidFill>
                <a:latin typeface="Calibri"/>
              </a:rPr>
              <a:t>THREE NESTED SCALES</a:t>
            </a:r>
          </a:p>
          <a:p>
            <a:pPr algn="l"/>
            <a:r>
              <a:rPr sz="1300" b="0" i="0">
                <a:solidFill>
                  <a:srgbClr val="E8E6E3"/>
                </a:solidFill>
                <a:latin typeface="Calibri"/>
              </a:rPr>
              <a:t>  SCALE 1 · Regional Sabah — East Sabah → Dangerous Grounds (this transect)</a:t>
            </a:r>
          </a:p>
          <a:p>
            <a:pPr algn="l"/>
            <a:r>
              <a:rPr sz="1300" b="0" i="0">
                <a:solidFill>
                  <a:srgbClr val="E8E6E3"/>
                </a:solidFill>
                <a:latin typeface="Calibri"/>
              </a:rPr>
              <a:t>  SCALE 2 · Basin / structural domain — Sabah Trough, toe thrust, thrust sheet, inboard, platform (BIF-KL6)</a:t>
            </a:r>
          </a:p>
          <a:p>
            <a:pPr algn="l"/>
            <a:r>
              <a:rPr sz="1300" b="0" i="0">
                <a:solidFill>
                  <a:srgbClr val="E8E6E3"/>
                </a:solidFill>
                <a:latin typeface="Calibri"/>
              </a:rPr>
              <a:t>  SCALE 3 · Local calibration — KB-KL2 Rotan–Maligan–Barton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Sources: SRC-XS-PUB · SRC-BIF23-KL6 · v4.2 chronostrat · v4.1 RHG payload · v3.1 surface system (SRC-REST15) · SRC-ESDG-MODELS (hypotheses)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EXECUTIVE INTERPRETATION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No single grand narrative: competing models are listed side by side; nothing here is adjudicated.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2331720" cy="749808"/>
          </a:xfrm>
          <a:prstGeom prst="rect">
            <a:avLst/>
          </a:prstGeom>
          <a:solidFill>
            <a:srgbClr val="2E8B57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E8E6E3"/>
                </a:solidFill>
                <a:latin typeface="Calibri"/>
              </a:rPr>
              <a:t>DIRECTLY SUPPORTED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6352" y="138988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1417320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One composite seismic display (BIF-KL6) over NW Sabah Platform, Sabah Trough, toe-thrust and thrust-sheet domains: rugose platform seabed, flat trough floor ≈3800 ms, seabed rising SE toward shelf, offset reflectors in toe-thrust panel. Navigation, datum and depth absent.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12848"/>
            <a:ext cx="2331720" cy="749808"/>
          </a:xfrm>
          <a:prstGeom prst="rect">
            <a:avLst/>
          </a:prstGeom>
          <a:solidFill>
            <a:srgbClr val="2D5F8B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E8E6E3"/>
                </a:solidFill>
                <a:latin typeface="Calibri"/>
              </a:rPr>
              <a:t>LOCAL TO KB-KL2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221284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2D5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240279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Digitised horizons · Rotan-1 / Maligan-1 / Barton-2 ties (C20: Rotan SRU/H3 FAIL, Maligan SRU FAIL) · Block H operator horizons (H-series, H400 age unassigned) · restoration-pack chronology behind EVENT-C-S.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35808"/>
            <a:ext cx="2331720" cy="749808"/>
          </a:xfrm>
          <a:prstGeom prst="rect">
            <a:avLst/>
          </a:prstGeom>
          <a:solidFill>
            <a:srgbClr val="8B6B4A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E8E6E3"/>
                </a:solidFill>
                <a:latin typeface="Calibri"/>
              </a:rPr>
              <a:t>MAY BE REGIONAL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352" y="303580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8B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3063239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Shallowing-to-SE seabed trend and trough → toe-thrust → thrust-sheet → shelf domain order, visible on BIF-KL6, consistent with public A–A′ frame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2331720" cy="749808"/>
          </a:xfrm>
          <a:prstGeom prst="rect">
            <a:avLst/>
          </a:prstGeom>
          <a:solidFill>
            <a:srgbClr val="FFD54F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13631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Calibri"/>
              </a:rPr>
              <a:t>REMAINS A CORRELATION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385876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3886200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DRU, SRU and H-series continuity from KB-KL2 onto BIF-KL6 · MMU vs DRU across the trough (C9) · KL6 panel positions relative to frame A–A′.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81728"/>
            <a:ext cx="2331720" cy="749808"/>
          </a:xfrm>
          <a:prstGeom prst="rect">
            <a:avLst/>
          </a:prstGeom>
          <a:solidFill>
            <a:srgbClr val="C0392B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36592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E8E6E3"/>
                </a:solidFill>
                <a:latin typeface="Calibri"/>
              </a:rPr>
              <a:t>REMAINS A HYPOTHESIS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16352" y="468172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4709160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EVENT-C-M (Sabah Trough tectono-magmatic branch) · crustal models R1–R4 · Models A/B/C of SRC-ESDG-MODELS · onshore–offshore magmatic correlation · 'Mesozoic' attribution of deep SE section.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504688"/>
            <a:ext cx="2331720" cy="749808"/>
          </a:xfrm>
          <a:prstGeom prst="rect">
            <a:avLst/>
          </a:prstGeom>
          <a:solidFill>
            <a:srgbClr val="2A2D36"/>
          </a:solidFill>
          <a:ln w="9525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59552"/>
            <a:ext cx="2240280" cy="65836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 i="0">
                <a:solidFill>
                  <a:srgbClr val="E8E6E3"/>
                </a:solidFill>
                <a:latin typeface="Calibri"/>
              </a:rPr>
              <a:t>NOT REPRESENTED BY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6352" y="5504688"/>
            <a:ext cx="8945575" cy="749808"/>
          </a:xfrm>
          <a:prstGeom prst="rect">
            <a:avLst/>
          </a:prstGeom>
          <a:solidFill>
            <a:srgbClr val="12141A"/>
          </a:solidFill>
          <a:ln w="1397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5532120"/>
            <a:ext cx="8762695" cy="6949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East Sabah and interior Sabah subsurface · mapped surface geology along transect · Dangerous Grounds below seabed · crust and Moho everywhere · depth everywhere.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327648"/>
            <a:ext cx="1136873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WHAT CHANGES EXPLORATION UNDERSTANDING: KB-KL2 cannot be used as the regional reference — its failed ties stay local. Regional play statements need a navigated dip keyline across the trough tied to wells. (Consequence statements = interpretation, not fact.)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REGIONAL TRANSECT · SEGMENT EVIDENCE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EAST SABAH (SE)  ◄  DISPLAY ORIENTATION  ►  DANGEROUS GROUNDS (NW)</a:t>
            </a:r>
          </a:p>
        </p:txBody>
      </p:sp>
      <p:pic>
        <p:nvPicPr>
          <p:cNvPr id="5" name="Picture 4" descr="01_transec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51615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4617720"/>
            <a:ext cx="11368735" cy="1417320"/>
          </a:xfrm>
          <a:prstGeom prst="rect">
            <a:avLst/>
          </a:prstGeom>
          <a:solidFill>
            <a:srgbClr val="12141A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11094415" cy="13258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Station order in SRC-XS-PUB: Dangerous Grounds (8.30 N, 113.00 E) → Sandakan Basin (5.85 N, 118.40 E).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Display reverses frame km so East Sabah is on the LEFT. BIF-KL6 is NW→SE as sourced; panels shown unflipped, each with a reversal marker.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Segment widths on the display are NOT to a common horizontal scale. Segment km ranges are GEOX display boundaries constructed on the public schematic A–A′ frame (RG-01); BIF-KL6 panels are placed by structural-domain name, not by coordinates.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SEGMENT-BY-SEGMENT · WHAT EACH ONE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2880360" cy="658368"/>
          </a:xfrm>
          <a:prstGeom prst="rect">
            <a:avLst/>
          </a:prstGeom>
          <a:solidFill>
            <a:srgbClr val="6B7280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97864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SEG-1 · East Sabah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CONCEPTUAL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0128" y="1170432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179576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Geological-map control. SRC-XS-PUB stations (Telupid, Kinabatangan, Sandakan Basin). SB505 / Sandakan / SB304 documents inventoried, NOT ingested.</a:t>
            </a:r>
          </a:p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Unknowns: mapped surface geology along transect; subsurface geometry; seismic. Confidence: LOW. Gate: RG-01.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83664"/>
            <a:ext cx="2880360" cy="658368"/>
          </a:xfrm>
          <a:prstGeom prst="rect">
            <a:avLst/>
          </a:prstGeom>
          <a:solidFill>
            <a:srgbClr val="8B6B4A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911095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SEG-2 · Interior Sabah / Crocker–Kinabalu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DERIVED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883664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8B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92807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SRC-XS-PUB topographic nodes (Mt Kinabalu 4.095 km as quoted). SRC-BB-V5 cross-check (secondary).</a:t>
            </a:r>
          </a:p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RC-06: granite root in secondary schematics NOT adopted. Unknowns: surface geology; crustal geometry; emplacement depth/shape of Kinabalu body. Gate: RG-02.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96896"/>
            <a:ext cx="2880360" cy="658368"/>
          </a:xfrm>
          <a:prstGeom prst="rect">
            <a:avLst/>
          </a:prstGeom>
          <a:solidFill>
            <a:srgbClr val="6B7280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24327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SEG-3 · Western Sabah onshore-to-offshore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CONCEPTUAL BRIDGE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596896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39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SRC-XS-PUB (Kota Kinabalu coast station). No seismic, no well. Unknowns: any seismic or well tie across the coastline. Confidence: LOW. Gate: RG-01.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10128"/>
            <a:ext cx="2880360" cy="658368"/>
          </a:xfrm>
          <a:prstGeom prst="rect">
            <a:avLst/>
          </a:prstGeom>
          <a:solidFill>
            <a:srgbClr val="2D5F8B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SEG-4 · Inboard offshore / thrust-sheet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DIRECT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3310128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2D5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319272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SRC-BIF23-KL6 px 1130–1590 ('Thrust Sheet'). TWT ms 0–10000. Wells: Dudar, Tekuyong, Kandi, Sugut, Solisip. Navigation UNVERIFIED. Gates: C27, RG-03.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2880360" cy="658368"/>
          </a:xfrm>
          <a:prstGeom prst="rect">
            <a:avLst/>
          </a:prstGeom>
          <a:solidFill>
            <a:srgbClr val="2D5F8B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050792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SEG-5 · Toe-thrust / Sabah Trough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DIRECT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4023360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2D5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032504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SRC-BIF23-KL6 px 393–1130 ('NW Sabah Trough', 'Toe Thrust') + KB-KL2 local calibration (v4.1). Wells: Permai, Buluh, Rotan. C9/C20/C27/C30 open. EVT-C-M corridor has NO geometry.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36592"/>
            <a:ext cx="2880360" cy="658368"/>
          </a:xfrm>
          <a:prstGeom prst="rect">
            <a:avLst/>
          </a:prstGeom>
          <a:solidFill>
            <a:srgbClr val="2D5F8B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764024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SEG-6 · NW Sabah Platform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DIRECT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4736592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2D5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745736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SRC-BIF23-KL6 px 63–393. Rugose seabed ≈1900–2200 ms. RC-03: 'NW Sabah Platform' not in SRC-XS-PUB province list — boundary is a GEOX display construct. Gates: RG-03, RG-04.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49824"/>
            <a:ext cx="2880360" cy="658368"/>
          </a:xfrm>
          <a:prstGeom prst="rect">
            <a:avLst/>
          </a:prstGeom>
          <a:solidFill>
            <a:srgbClr val="2A2D36"/>
          </a:solidFill>
          <a:ln w="889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477256"/>
            <a:ext cx="2788920" cy="6035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SEG-7 · Dangerous Grounds</a:t>
            </a:r>
          </a:p>
          <a:p>
            <a:pPr algn="l"/>
            <a:r>
              <a:rPr sz="900" b="1" i="0">
                <a:solidFill>
                  <a:srgbClr val="E8E6E3"/>
                </a:solidFill>
                <a:latin typeface="Calibri"/>
              </a:rPr>
              <a:t>NO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5449824"/>
            <a:ext cx="8488375" cy="658368"/>
          </a:xfrm>
          <a:prstGeom prst="rect">
            <a:avLst/>
          </a:prstGeom>
          <a:solidFill>
            <a:srgbClr val="12141A"/>
          </a:solidFill>
          <a:ln w="12700">
            <a:solidFill>
              <a:srgbClr val="2A2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458968"/>
            <a:ext cx="8305495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 i="0">
                <a:solidFill>
                  <a:srgbClr val="E8E6E3"/>
                </a:solidFill>
                <a:latin typeface="Calibri"/>
              </a:rPr>
              <a:t>SRC-XS-PUB stations only (Dangerous Grounds, Layang-Layang; schematic bathymetry nodes). Nothing below seabed. Confidence: UNKNOWN. Gates: C9, RG-04.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THREE NESTED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Object IDs unchanged across scales · local picks NOT propagated regionally (C20 FAIL ties)</a:t>
            </a:r>
          </a:p>
        </p:txBody>
      </p:sp>
      <p:pic>
        <p:nvPicPr>
          <p:cNvPr id="5" name="Picture 4" descr="02_nested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25880"/>
            <a:ext cx="96012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CHRONO-STRATIGRAPHIC FRAME · KB-KL2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SCALE BREAK 24 Ma · 0–24 Ma = 72% of height · 24–66 Ma = 28% · piecewise linear · P, L and R drawn with equal weight</a:t>
            </a:r>
          </a:p>
        </p:txBody>
      </p:sp>
      <p:pic>
        <p:nvPicPr>
          <p:cNvPr id="5" name="Picture 4" descr="03_chronostr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86384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280160"/>
            <a:ext cx="3520440" cy="5029200"/>
          </a:xfrm>
          <a:prstGeom prst="rect">
            <a:avLst/>
          </a:prstGeom>
          <a:solidFill>
            <a:srgbClr val="12141A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1353312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 i="0">
                <a:solidFill>
                  <a:srgbClr val="FFD54F"/>
                </a:solidFill>
                <a:latin typeface="Calibri"/>
              </a:rPr>
              <a:t>MODEL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1828800"/>
            <a:ext cx="3291840" cy="43891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P · PROJECT_2026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     top-of-stage · SRC-UNI, SRC-P1 not local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L · LEGACY_TB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     base-of-stage · SRC-PEN local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R · LEGACY_RECAL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     re-dated legacy · hypothesis by construction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DERIVED MODEL SPREAD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NOT a measured uncertainty interval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Age not assigned: H400, H136, H120, U-*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H400 → review card · NO AGE · UNSET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GTS2020 stage column + NN (GTS2012)</a:t>
            </a:r>
          </a:p>
          <a:p>
            <a:pPr algn="l"/>
            <a:r>
              <a:rPr sz="1000" b="0" i="0">
                <a:solidFill>
                  <a:srgbClr val="E8E6E3"/>
                </a:solidFill>
                <a:latin typeface="Calibri"/>
              </a:rPr>
              <a:t>TS (interpretation) TTSS00–TTSS55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SURFACE CALLOUTS · KB-KL2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P / L / R ages where assigned · restoration-pack quotations marked · confidence per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98448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307592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SEABED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07592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0.0 · L 0.0 · R 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07592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0g · C20 UNSET · C20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32204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41348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H50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41348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2.6 Ma · REST15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41348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REST15 0g · UNSET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65960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75103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H1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975103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2.0 · L 3.8 · R 3.7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75103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1g · C6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99715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08859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08859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3.1 · L 5.5 · R 5.59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08859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1g · C6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633472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642615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642615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8.11 · L 6.7 · R 6.7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42615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1g · C20 · C5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67228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976372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SRU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976372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9.53 · L 9.4 · R 9.53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976372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4g · C20 · C-NWB-05 · C-T6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00984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310127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UIU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310127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10.46 · L 10.6 · R 10.55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310127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2g · C-NWB-01 · C3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634739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643883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LIU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643883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11.63 · L 12.0 · R 11.9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643883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1g · C4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68496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977639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DRU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3977639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14.2 · L 15.4 · R 14.91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977639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MED · P-gap 2g · C20 · C1 · C9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302252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311396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MMU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4311396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16.0 · L 16.0 · R 16.0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311396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1g · C9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636008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645152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BMU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4645152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23.13 · L 21.0 · R 21.0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645152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1g · C7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969764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978907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BU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4978907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30.8 · L 30.8 · R 30.8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4978907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0g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303520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5312664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LEU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5312664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34.1 · L 34.4 · R 34.4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312664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1g · C11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637276"/>
            <a:ext cx="1234440" cy="301752"/>
          </a:xfrm>
          <a:prstGeom prst="rect">
            <a:avLst/>
          </a:prstGeom>
          <a:solidFill>
            <a:srgbClr val="2D5F8B"/>
          </a:solidFill>
          <a:ln w="762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5646420"/>
            <a:ext cx="118872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E8E6E3"/>
                </a:solidFill>
                <a:latin typeface="Calibri"/>
              </a:rPr>
              <a:t>ROU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5646420"/>
            <a:ext cx="320040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P 56.0 · L 56.0 · R 56.0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5646420"/>
            <a:ext cx="6766560" cy="28346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INTERP LOW-MED · P-gap 1g · C-NWB-04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172200"/>
            <a:ext cx="11368735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FFD54F"/>
                </a:solidFill>
                <a:latin typeface="Calibri"/>
              </a:rPr>
              <a:t>Restoration surfaces (REST15): H50 2.6 · H75 3.6 · H110 8.1 · H150 9.0 · H300 10.1 · H350 11.1 · H370 13.0 Ma — all INTERP LOW-MED, pack quotations, not governed ages.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WELL TIES · KB-KL2 AND REGIONAL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C20: failed ties stay local — NOT propagated regionally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5486400" cy="3931920"/>
          </a:xfrm>
          <a:prstGeom prst="rect">
            <a:avLst/>
          </a:prstGeom>
          <a:solidFill>
            <a:srgbClr val="12141A"/>
          </a:solidFill>
          <a:ln w="1651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KB-KL2 WELLS (on the local screenshot)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212080" cy="3291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ROTAN-1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Compiled NN: NN11 / NN10 · checkshot/VSP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SEABED ◆ EDGE ·  SRU ✕ FAIL ·  H3 ✕ FAIL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MALIGAN-1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Compiled NN: NN11 / NN10 / NN9 · checkshot/VSP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SRU ✕ FAIL ·  H3 ? UNKNOWN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BARTON-2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No NN control · checkshot/VSP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Shared object: WELL-ROTAN-1 (5 km off BIF-KL6 as tabulated)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KB-KL2 position on regional transect: navigation UNVERIFIED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5577840" cy="3931920"/>
          </a:xfrm>
          <a:prstGeom prst="rect">
            <a:avLst/>
          </a:prstGeom>
          <a:solidFill>
            <a:srgbClr val="12141A"/>
          </a:solidFill>
          <a:ln w="16510">
            <a:solidFill>
              <a:srgbClr val="2D5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44752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 i="0">
                <a:solidFill>
                  <a:srgbClr val="FFD54F"/>
                </a:solidFill>
                <a:latin typeface="Calibri"/>
              </a:rPr>
              <a:t>REGIONAL CALIBRATION WELLS (compiled NN, SRC-PEN)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303520" cy="3291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GAJAH HITIGA · TIGA PAPAN · MALIGAN · SOLISIP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GLAYZER-3 · RUSA TIMUR · IMBOK · BULUH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DELUAR · KETAM · SOUTH LOKA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Not on KB-KL2 · C12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Gap grammar applied: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Erosion — not drawn (no source asserts located truncation)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Non-deposition — not drawn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Hiatus unresolved: UNKNOWN: EROSION OR NON-DEPOSITION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CONDENSATION CANDIDATE (inferred only)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Poor recovery / caving candidate (C12)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  Reworking candidate (C12)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440680"/>
            <a:ext cx="11368735" cy="777240"/>
          </a:xfrm>
          <a:prstGeom prst="rect">
            <a:avLst/>
          </a:prstGeom>
          <a:solidFill>
            <a:srgbClr val="2A2D36"/>
          </a:solidFill>
          <a:ln w="1397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04688"/>
            <a:ext cx="11094415" cy="7132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0" i="0">
                <a:solidFill>
                  <a:srgbClr val="E8E6E3"/>
                </a:solidFill>
                <a:latin typeface="Calibri"/>
              </a:rPr>
              <a:t>RC-04 · Well stick-to-name ambiguity on BIF-KL6 — three sticks under labels Buluh + Rotan (px 1011/1019/1024) and three under Kandi + Sugut (px 1398/1420/1429). OPEN.</a:t>
            </a:r>
          </a:p>
          <a:p>
            <a:pPr algn="l"/>
            <a:r>
              <a:rPr sz="950" b="0" i="0">
                <a:solidFill>
                  <a:srgbClr val="E8E6E3"/>
                </a:solidFill>
                <a:latin typeface="Calibri"/>
              </a:rPr>
              <a:t>RC-01 · KL2 marker on BIF-KL6 is BIF-KL2, not KB-KL2 — under C27 the printed 'KL2' at the 2W block (trough) is BIF-KL2; KB-KL2 relates to BIF-KL6 only through Rotan-1. OPEN · ARIF_REVIEW.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TECTONIC EVENT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All events: Block H and regional as sourced · extent NOT demonstrated beyond Block H lane · every event is INTERPRETATION · PARTIAL</a:t>
            </a:r>
          </a:p>
        </p:txBody>
      </p:sp>
      <p:pic>
        <p:nvPicPr>
          <p:cNvPr id="5" name="Picture 4" descr="04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11551615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5532120"/>
            <a:ext cx="11368735" cy="777240"/>
          </a:xfrm>
          <a:prstGeom prst="rect">
            <a:avLst/>
          </a:prstGeom>
          <a:solidFill>
            <a:srgbClr val="12141A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96128"/>
            <a:ext cx="11094415" cy="7132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EVENT-C SCOPE — EVENT-C-S: localized H370–H300 kinematic reorganisation in the Tanjung / Rotan restoration corridor (Block H, outboard). Magmatism not shown.</a:t>
            </a:r>
          </a:p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EVENT-C-M: Sabah Trough tectono-magmatic branch — HYPOTHESIS · HOLD · no geometry · no emplacement age (C30). Neither explains the regional transect.</a:t>
            </a:r>
          </a:p>
          <a:p>
            <a:pPr algn="l"/>
            <a:r>
              <a:rPr sz="900" b="0" i="0">
                <a:solidFill>
                  <a:srgbClr val="E8E6E3"/>
                </a:solidFill>
                <a:latin typeface="Calibri"/>
              </a:rPr>
              <a:t>Competing models for EVENT-C-S: syn-compressional gravitational collapse · back-limb extension · strain partitioning · oblique reactivation · mobile-shale decoupling · restoration artefact.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EVENT DETAIL · PALEO SYSTEM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Every row: evidence class = INTERPRETATION · PARTIAL · open gates G4/G5 (G6 for Event C)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271016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271016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Paleogene inherited substrate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71016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Deep surfaces NP14 46.29 / NP8 57.21 Ma model-assigned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71016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Substrate controls heat flow &amp; deep kitchens · unresolved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1271016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36775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645919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645919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Early Miocene basin initiation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645919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RELQ25 p.22 · how NSPW emplaced above older prism (C-T3)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645919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Future mobile-shale supply · NSPW a theoretical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1645919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11679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020823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020823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NSPW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020823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circa 18–13 Ma (RELQ25 p.22) · composite NSPW origin (C-T4)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020823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Overpressure potential (analogue)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2020823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86584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2395727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2395727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H400 structural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395727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Age NOT assigned · pack labels H400 and H370 both 13 Ma (REST15)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95727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Deep kitchens and conduits below H400 poorly imaged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2395727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61488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2770632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2770632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Localized extension during shortening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2770632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13 → 11.1 Ma · collapse / shale-withdrawal / thrust-top? (C-T7)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770632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This depocentre later becomes the Tanjung kitchen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2770632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136392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" y="3145536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3145536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EVENT-C-S kinematic reorganisation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145536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13 → 10.1 Ma · not mapped to stored surfaces · link to Trough? (C26)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145536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Alters routing of later sands and kitchen geometry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3145536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511296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35204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3520440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H300 compressional pulse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520440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10.1 Ma restored → ~10 Ma deformed · detachment geometry 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520440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Rotan trap 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2840" y="3520440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886200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3895344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2" y="3895344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Confined-minibasin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3895344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No age assigned · minibasin mechanism (C-T7) · mud genesis (C-T14)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3895344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Ponded reservoirs · mud-bounded traps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3895344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261104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" y="4270248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3312" y="4270248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Reduced regional confinement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4270248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No age assigned · where and why confinement persisted 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4270248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Fairways must stay horizon-specific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4270248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636008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328" y="4645152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53312" y="4645152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SRU surface system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4645152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P 9.53 / L 9.4 / R 9.53 Ma · pack-marker equivalence CORRELATION HOLD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4645152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Shelf foreset pay · deepwater expression not erosional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4645152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010912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" y="5020056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53312" y="5020056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Local reactivation and burial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49039" y="5020056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9.0 → 8.1 Ma · spatial extent of reactivation 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83879" y="5020056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Trap modification · possible breach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92840" y="5020056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385816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8328" y="539496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53312" y="5394960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Gravity-dominated overprint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49039" y="5394960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H50 2.6 Ma · Stage IVF (RELQ25 p.24) · gravity vs compression (C-T10)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79" y="5394960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Hikmat-1: 4.6 m net gas in H50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92840" y="5394960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760720"/>
            <a:ext cx="960120" cy="347472"/>
          </a:xfrm>
          <a:prstGeom prst="rect">
            <a:avLst/>
          </a:prstGeom>
          <a:solidFill>
            <a:srgbClr val="2D5F8B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8328" y="5769864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800" b="1" i="0">
                <a:solidFill>
                  <a:srgbClr val="E8E6E3"/>
                </a:solidFill>
                <a:latin typeface="Calibri"/>
              </a:rPr>
              <a:t>EVT-T12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53312" y="5769864"/>
            <a:ext cx="23317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FFD54F"/>
                </a:solidFill>
                <a:latin typeface="Calibri"/>
              </a:rPr>
              <a:t>Present day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49039" y="5769864"/>
            <a:ext cx="434340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Stress tensor on KL2 UNKNOWN · fluid escape not demonstrated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79" y="5769864"/>
            <a:ext cx="3063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E8E6E3"/>
                </a:solidFill>
                <a:latin typeface="Calibri"/>
              </a:rPr>
              <a:t>Partial leakage · most accumulations not filled to spill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5769864"/>
            <a:ext cx="77724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G4,G5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6263640"/>
            <a:ext cx="11551615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  <a:latin typeface="Calibri"/>
              </a:rPr>
              <a:t>H400 AGE · GOVERNED PAYLOAD: UNASSIGNED · REST15 QUOTATIONS: 13 Ma · STATUS: HOLD · ARIF DECISION: UNSET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SPATIAL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Segment widths NOT to a common scale · SEG boundaries are GEOX display constructs (RG-01)</a:t>
            </a:r>
          </a:p>
        </p:txBody>
      </p:sp>
      <p:pic>
        <p:nvPicPr>
          <p:cNvPr id="5" name="Picture 4" descr="05_evide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607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5080" y="1280160"/>
            <a:ext cx="5486400" cy="4754880"/>
          </a:xfrm>
          <a:prstGeom prst="rect">
            <a:avLst/>
          </a:prstGeom>
          <a:solidFill>
            <a:srgbClr val="12141A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5331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 i="0">
                <a:solidFill>
                  <a:srgbClr val="FFD54F"/>
                </a:solidFill>
                <a:latin typeface="Calibri"/>
              </a:rPr>
              <a:t>KEY GATES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5212080" cy="42062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RG-01  Segment display boundaries on frame A–A′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RG-02  Designate DEM topographic source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RG-03  Freeze BIF-KL6 identity and navigation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RG-04  NW Sabah Platform vs Dangerous Grounds boundary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RG-05  Designate East Sabah geological-map control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RG-06  Carry or reject operator 'Mesozoic' attribution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RG-07  Crustal control for R1–R4 (wide-angle / MT)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C9   MMU vs DRU across Sabah Trough — kept separate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C20  Failed KB-KL2 ties stay local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C27  BIF-KL6 namespace: REGIONAL-COMPOSITE-KL6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C30  EVENT-C-M: no geometry, no emplacement age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RC-06 Kinabalu root / igneous corridor NOT adopted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RC-07 Public-frame Moho depths NOT adopted</a:t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050" b="0" i="0">
                <a:solidFill>
                  <a:srgbClr val="E8E6E3"/>
                </a:solidFill>
                <a:latin typeface="Calibri"/>
              </a:rPr>
              <a:t>All decisions: UNSET. GEOX recommends nothing as closed.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EPISTEMIC SEPARATION · WHAT IS KNOWN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Build correctness is not Earth truth. GEOX renders; ARIF adjudicates.</a:t>
            </a:r>
          </a:p>
        </p:txBody>
      </p:sp>
      <p:pic>
        <p:nvPicPr>
          <p:cNvPr id="5" name="Picture 4" descr="06_epist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234440"/>
            <a:ext cx="969264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ARIF REGIONAL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68735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0" i="0">
                <a:solidFill>
                  <a:srgbClr val="E8E6E3"/>
                </a:solidFill>
                <a:latin typeface="Calibri"/>
              </a:rPr>
              <a:t>geox_sabah_regional_v1 · all decisions UNSET · GEOX recommends nothing as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216152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16152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216152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Approve GEOX segment display boundaries (SEG-1…SEG-7 km ranges)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216152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ARIF confirmation or replacement transect polyline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591056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591056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591056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Designate a topographic source (DEM e.g. GEBCO/SRTM) to replace schematic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591056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approved DEM extraction along the transect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56816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965960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1965960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965960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Freeze BIF-KL6 identity and navigation; fix well 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SEG-Y / navigation, well header coordinates (SRC-SABAH-WSM)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31720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340864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340864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340864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NW Sabah Platform vs Dangerous Grounds boundary and naming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40864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regional province 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06624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2715768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2715768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715768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Designate East Sabah geological-map control (SB505 MR2 / Sandakan / other)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15768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ARIF designation; then ingestion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81528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090672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090672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090672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Carry or reject the operator 'Mesozoic' attribution on BIF-KL6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090672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well / outcrop age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56432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465576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3465576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RG-07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465576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Crustal control for R1–R4 (wide-angle, refraction, MT)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465576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geophysical acquisition or published constrained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31336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3840480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3840480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ARIF-H400-AGE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3840480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H400 age: governed UNASSIGNED vs REST15 13 Ma · HOLD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840480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adjudicate 13 Ma REST15 quotation vs unassigned governed 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206240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4215384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4215384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C27 / RC-01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215384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Confirm BIF-KL6 namespace; printed 'KL2' marker is BIF-KL2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215384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line identity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581144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" y="4590288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590288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C9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4590288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MMU vs DRU across the Sabah Trough (kept separate)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4590288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dip keyline across DG platforms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956048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4965192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4965192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C20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4965192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Failed KB-KL2 ties stay local (no regional propagation)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4965192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VSP, navigation, DSG export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330952"/>
            <a:ext cx="411480" cy="338328"/>
          </a:xfrm>
          <a:prstGeom prst="rect">
            <a:avLst/>
          </a:prstGeom>
          <a:solidFill>
            <a:srgbClr val="FFD54F"/>
          </a:solidFill>
          <a:ln w="6350">
            <a:solidFill>
              <a:srgbClr val="E8E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5340096"/>
            <a:ext cx="393192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5340096"/>
            <a:ext cx="155448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50" b="1" i="0">
                <a:solidFill>
                  <a:srgbClr val="FFD54F"/>
                </a:solidFill>
                <a:latin typeface="Calibri"/>
              </a:rPr>
              <a:t>RC-06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5340096"/>
            <a:ext cx="576072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E8E6E3"/>
                </a:solidFill>
                <a:latin typeface="Calibri"/>
              </a:rPr>
              <a:t>Keep Kinabalu root / igneous corridor out of the governed model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340096"/>
            <a:ext cx="3657600" cy="32004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cited constrained model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806440"/>
            <a:ext cx="11551615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Calibri"/>
              </a:rPr>
              <a:t>NEW CONTRADICTIONS: RC-01 KL2 marker identity · RC-02 KB-KL2 position unknown · RC-03 Platform vs Dangerous Grounds province · RC-04 well stick-to-name ambiguity · RC-05 'Mesozoic' outside 0–66 Ma chart · RC-06 Kinabalu root NOT adopted · RC-07 public Moho NOT adopted.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3055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 i="0">
                <a:solidFill>
                  <a:srgbClr val="FFD54F"/>
                </a:solidFill>
                <a:latin typeface="Calibri"/>
              </a:rPr>
              <a:t>PETRONAS INTERNAL · LOCAL ONLY · INTERPRETATION · PARTIAL · NOT SEALED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11368735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HIGHEST INFORMATION VALUE DATA · AND WHAT IT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5532120" cy="2880360"/>
          </a:xfrm>
          <a:prstGeom prst="rect">
            <a:avLst/>
          </a:prstGeom>
          <a:solidFill>
            <a:srgbClr val="12141A"/>
          </a:solidFill>
          <a:ln w="1651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5257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Calibri"/>
              </a:rPr>
              <a:t>WHAT DATA HAVE THE HIGHEST INFORMATION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5257800" cy="2286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1)  Navigated SEG-Y of BIF-KL6 (or equivalent dip line) with well ties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   → resolves C9 and the trough-to-shelf correlation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2)  Survey IDs and header coordinates for the KL6 wells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     (SRC-SABAH-WSM lists several) → resolves RC-04, RG-03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3)  Wide-angle / MT along the margin for R1–R4 → resolves RG-07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4)  Digitised geological map for SEG-1 / SEG-2 → resolves RG-05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532120" cy="2880360"/>
          </a:xfrm>
          <a:prstGeom prst="rect">
            <a:avLst/>
          </a:prstGeom>
          <a:solidFill>
            <a:srgbClr val="12141A"/>
          </a:solidFill>
          <a:ln w="1651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99032"/>
            <a:ext cx="525780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Calibri"/>
              </a:rPr>
              <a:t>WHAT CHANGES EXPLORATION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10512"/>
            <a:ext cx="5257800" cy="2286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KB-KL2 cannot be used as the regional reference: its failed ties stay local.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Regional play statements need a navigated dip keyline across the trough tied to wells — until then regional maps should carry CORRELATION, not TIE, status.</a:t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E8E6E3"/>
                </a:solidFill>
                <a:latin typeface="Calibri"/>
              </a:rPr>
              <a:t>(Consequence statements are interpretation, not fact.)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434840"/>
            <a:ext cx="11368735" cy="1691640"/>
          </a:xfrm>
          <a:prstGeom prst="rect">
            <a:avLst/>
          </a:prstGeom>
          <a:solidFill>
            <a:srgbClr val="2A2D36"/>
          </a:solidFill>
          <a:ln w="1524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1094415" cy="38404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  <a:latin typeface="Calibri"/>
              </a:rP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11094415" cy="11887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0" i="0">
                <a:solidFill>
                  <a:srgbClr val="E8E6E3"/>
                </a:solidFill>
                <a:latin typeface="Calibri"/>
              </a:rPr>
              <a:t>SRC-XS-PUB (public schematic frame + place coordinates) · SRC-BIF23-KL6 (NWB23 deck seismic display raster) · kinabalu_chronostrat_v2.json (scale, GTS2020, NN, megasequences, regional wells) · v4.11 RHG payload (surfaces, ties, gates, Wheeler) · v3.1 surface system (operator ages, SRC-REST15) · SRC-ESDG-MODELS (hypotheses) · SRC-RELQ25 · SRC-REP15 · SRC-NWB23 · SRC-ARIF-EVC · SRC-ENT-LL1</a:t>
            </a:r>
          </a:p>
          <a:p>
            <a:pPr algn="l"/>
            <a:r>
              <a:rPr sz="950" b="0" i="0">
                <a:solidFill>
                  <a:srgbClr val="E8E6E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E8E6E3"/>
                </a:solidFill>
                <a:latin typeface="Calibri"/>
              </a:rPr>
              <a:t>Inventoried, NOT ingested: SB505 MR2 · Sandakan publication · SB304 deck. No external calls. No image generation. Base chart: rhg_v4_2_chronostrat KL2_v4_2_CHRONOSTRAT.svg embedded unchanged (hash-checked).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11643055" cy="237744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PETRONAS INTERNAL · LOCAL ONLY · INTERPRETATION · PARTIAL · NOT SEALED     |     GEOX renders; ARIF adjudicates     |   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